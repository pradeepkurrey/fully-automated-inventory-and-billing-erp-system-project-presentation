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Bitter" panose="020B0604020202020204" charset="0"/>
      <p:regular r:id="rId14"/>
    </p:embeddedFont>
    <p:embeddedFont>
      <p:font typeface="Bitter Bold" panose="020B0604020202020204" charset="0"/>
      <p:regular r:id="rId15"/>
    </p:embeddedFont>
    <p:embeddedFont>
      <p:font typeface="Bitter Semi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Jost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0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15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61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44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917008" cy="25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EXCEL VBA BUSINESS PROCESS AUTOMATION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09585" y="1004835"/>
            <a:ext cx="11237422" cy="3024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lnSpc>
                <a:spcPct val="83000"/>
              </a:lnSpc>
              <a:buNone/>
            </a:pPr>
            <a:br>
              <a:rPr lang="en-US" sz="6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</a:br>
            <a:r>
              <a:rPr lang="en-US" sz="6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FULLY AUTOMATED INVENTORY &amp; BILLING ERP SYSTEM</a:t>
            </a:r>
            <a:endParaRPr lang="en-US" sz="6600" b="1" dirty="0"/>
          </a:p>
        </p:txBody>
      </p:sp>
      <p:sp>
        <p:nvSpPr>
          <p:cNvPr id="4" name="Text 2"/>
          <p:cNvSpPr/>
          <p:nvPr/>
        </p:nvSpPr>
        <p:spPr>
          <a:xfrm>
            <a:off x="609586" y="4173811"/>
            <a:ext cx="11106792" cy="576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End-to-End Business Process Automation solution in Microsoft Excel (VBA) </a:t>
            </a:r>
            <a:b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600" i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Presented by Pradeep Kumar </a:t>
            </a:r>
            <a:r>
              <a:rPr lang="en-US" sz="1600" i="1" dirty="0" err="1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Kurrey</a:t>
            </a:r>
            <a:br>
              <a:rPr lang="en-US" sz="1600" i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600" i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                   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5978227"/>
            <a:ext cx="8614802" cy="270173"/>
          </a:xfrm>
          <a:prstGeom prst="roundRect">
            <a:avLst>
              <a:gd name="adj" fmla="val 4231"/>
            </a:avLst>
          </a:prstGeom>
          <a:solidFill>
            <a:srgbClr val="1E1538"/>
          </a:solidFill>
          <a:ln/>
        </p:spPr>
      </p:sp>
      <p:sp>
        <p:nvSpPr>
          <p:cNvPr id="6" name="Text 4"/>
          <p:cNvSpPr/>
          <p:nvPr/>
        </p:nvSpPr>
        <p:spPr>
          <a:xfrm>
            <a:off x="716241" y="6035275"/>
            <a:ext cx="8508146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INVENTORY · GST INVOICING · REPORTING VBA AUTOMATION · 5,000+ AUDIT RECORDS 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57505-AB84-495A-A9A6-ACEBFF9CD8A8}"/>
              </a:ext>
            </a:extLst>
          </p:cNvPr>
          <p:cNvSpPr txBox="1"/>
          <p:nvPr/>
        </p:nvSpPr>
        <p:spPr>
          <a:xfrm>
            <a:off x="609586" y="4699017"/>
            <a:ext cx="3630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solidFill>
                  <a:srgbClr val="FFFFFF"/>
                </a:solidFill>
                <a:highlight>
                  <a:srgbClr val="0000FF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Advanced Excel &amp; MIS Executive</a:t>
            </a:r>
            <a:endParaRPr lang="en-US" b="1" dirty="0">
              <a:highlight>
                <a:srgbClr val="0000FF"/>
              </a:highlight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52F477-8061-4880-95EE-92A492726FEE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21788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SYSTEM FOUNDATION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753021"/>
            <a:ext cx="10972526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br>
              <a:rPr lang="en-US" sz="48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</a:br>
            <a:r>
              <a:rPr lang="en-US" sz="48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Unified Excel Architecture Connecting Stock, Invoicing, and Audits</a:t>
            </a:r>
            <a:endParaRPr lang="en-US" sz="4800" b="1" dirty="0"/>
          </a:p>
        </p:txBody>
      </p:sp>
      <p:sp>
        <p:nvSpPr>
          <p:cNvPr id="4" name="Text 2"/>
          <p:cNvSpPr/>
          <p:nvPr/>
        </p:nvSpPr>
        <p:spPr>
          <a:xfrm>
            <a:off x="609585" y="2899643"/>
            <a:ext cx="9679927" cy="529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Eliminates fragmented records by integrating inventory movements, tax billing, and master ledgers into a  single ,</a:t>
            </a:r>
            <a:br>
              <a:rPr lang="en-US" sz="16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6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tamper-proof Excel VBA environment.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041080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610993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Centralize: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609585" y="4996755"/>
            <a:ext cx="25145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</a:rPr>
              <a:t>Single-source master sheets for Products, Customers, and Suppliers.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14" y="4041080"/>
            <a:ext cx="444489" cy="444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8914" y="4610993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Automate:</a:t>
            </a:r>
            <a:endParaRPr lang="en-US" sz="2000" b="1" dirty="0"/>
          </a:p>
        </p:txBody>
      </p:sp>
      <p:sp>
        <p:nvSpPr>
          <p:cNvPr id="10" name="Text 6"/>
          <p:cNvSpPr/>
          <p:nvPr/>
        </p:nvSpPr>
        <p:spPr>
          <a:xfrm>
            <a:off x="3428914" y="4996755"/>
            <a:ext cx="25145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1-Click VBA execution replaces hours of manual calculation.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4041080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8244" y="4610993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Validate:</a:t>
            </a:r>
            <a:endParaRPr lang="en-US" sz="2000" b="1" dirty="0"/>
          </a:p>
        </p:txBody>
      </p:sp>
      <p:sp>
        <p:nvSpPr>
          <p:cNvPr id="13" name="Text 8"/>
          <p:cNvSpPr/>
          <p:nvPr/>
        </p:nvSpPr>
        <p:spPr>
          <a:xfrm>
            <a:off x="6248244" y="4996755"/>
            <a:ext cx="25145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Active data guards prevent out-of-stock billing and entry errors.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4041080"/>
            <a:ext cx="444489" cy="444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67573" y="4610993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</a:rPr>
              <a:t>Audit:</a:t>
            </a:r>
            <a:endParaRPr lang="en-US" sz="2000" b="1" dirty="0"/>
          </a:p>
        </p:txBody>
      </p:sp>
      <p:sp>
        <p:nvSpPr>
          <p:cNvPr id="16" name="Text 10"/>
          <p:cNvSpPr/>
          <p:nvPr/>
        </p:nvSpPr>
        <p:spPr>
          <a:xfrm>
            <a:off x="9067573" y="4996755"/>
            <a:ext cx="25145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logging of 5,000+ transactions with historical reprint.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77895" y="646608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F2EDFB"/>
                </a:solidFill>
                <a:latin typeface="Bitter" pitchFamily="34" charset="0"/>
              </a:rPr>
              <a:t>2</a:t>
            </a:r>
            <a:endParaRPr lang="en-US" sz="105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15CCC59-6756-455F-A979-366F33FDFD6B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26487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THE OPERATING FRICTION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149588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Manual Spreadsheet Vulnerabilities vs Automated Excel ERP</a:t>
            </a:r>
            <a:endParaRPr lang="en-US" sz="4800" b="1" dirty="0"/>
          </a:p>
        </p:txBody>
      </p:sp>
      <p:sp>
        <p:nvSpPr>
          <p:cNvPr id="4" name="Shape 2"/>
          <p:cNvSpPr/>
          <p:nvPr/>
        </p:nvSpPr>
        <p:spPr>
          <a:xfrm>
            <a:off x="609585" y="2626519"/>
            <a:ext cx="5333867" cy="3018929"/>
          </a:xfrm>
          <a:prstGeom prst="roundRect">
            <a:avLst>
              <a:gd name="adj" fmla="val 379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8027" y="2924969"/>
            <a:ext cx="503542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CHALLENGES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08027" y="3215739"/>
            <a:ext cx="4736981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Where work slows down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08027" y="3809405"/>
            <a:ext cx="4736981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</a:rPr>
              <a:t>Accidental billing without available inventory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Formula corruption due to manual user tampering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Slow invoice typing and manual tax calculations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Missed reorder dates causing stockouts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Scattered sales records with zero audit trail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8244" y="2626519"/>
            <a:ext cx="5333867" cy="3018929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9" name="Text 7"/>
          <p:cNvSpPr/>
          <p:nvPr/>
        </p:nvSpPr>
        <p:spPr>
          <a:xfrm>
            <a:off x="6527637" y="2905919"/>
            <a:ext cx="505447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27637" y="3196690"/>
            <a:ext cx="4775081" cy="61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the System Delivers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08892" y="3804642"/>
            <a:ext cx="4775081" cy="1562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stock deduction on invoice generation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Protected cells and locked automated formula architecture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Instant 1-click GST invoice with VBA </a:t>
            </a:r>
            <a:r>
              <a:rPr lang="en-US" sz="1500" dirty="0" err="1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NumberToWords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threshold popups with instant supplier details </a:t>
            </a:r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Centralized Sales Master with 5,000+ permanent rows 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585" y="5823247"/>
            <a:ext cx="11582110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intended value is a more controlled path from stock movement to billing record.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7895" y="646608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942960" y="6466086"/>
            <a:ext cx="2487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22EF87-7CAC-4A9F-BD8D-F66DC2C035A0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448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03 — INFORMATION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027351"/>
            <a:ext cx="10972526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End-to-End Relational Data Pipeline Across 8 connected Modules</a:t>
            </a:r>
            <a:endParaRPr lang="en-US" sz="4800" b="1" dirty="0"/>
          </a:p>
        </p:txBody>
      </p:sp>
      <p:sp>
        <p:nvSpPr>
          <p:cNvPr id="4" name="Text 2"/>
          <p:cNvSpPr/>
          <p:nvPr/>
        </p:nvSpPr>
        <p:spPr>
          <a:xfrm>
            <a:off x="609585" y="250428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stage adds structure, control, or context before the information reaches a business review.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930922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3179862"/>
            <a:ext cx="350511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326209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Master Database: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609585" y="3711972"/>
            <a:ext cx="3505112" cy="46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Centralized Product, Supplier, and </a:t>
            </a:r>
            <a:b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records.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19489" y="2930922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9489" y="3179862"/>
            <a:ext cx="3352716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1" name="Text 9"/>
          <p:cNvSpPr/>
          <p:nvPr/>
        </p:nvSpPr>
        <p:spPr>
          <a:xfrm>
            <a:off x="4419489" y="3326209"/>
            <a:ext cx="33527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 validation:</a:t>
            </a:r>
            <a:endParaRPr lang="en-US" sz="2000" b="1" dirty="0"/>
          </a:p>
        </p:txBody>
      </p:sp>
      <p:sp>
        <p:nvSpPr>
          <p:cNvPr id="12" name="Text 10"/>
          <p:cNvSpPr/>
          <p:nvPr/>
        </p:nvSpPr>
        <p:spPr>
          <a:xfrm>
            <a:off x="4419489" y="3711972"/>
            <a:ext cx="3352716" cy="675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Dynamic check intercepts stock deficit </a:t>
            </a:r>
            <a:b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before entry.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76998" y="2930922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76998" y="3179862"/>
            <a:ext cx="350511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76998" y="3326209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1-Click Billing:</a:t>
            </a:r>
            <a:endParaRPr lang="en-US" sz="2000" b="1" dirty="0"/>
          </a:p>
        </p:txBody>
      </p:sp>
      <p:sp>
        <p:nvSpPr>
          <p:cNvPr id="16" name="Text 14"/>
          <p:cNvSpPr/>
          <p:nvPr/>
        </p:nvSpPr>
        <p:spPr>
          <a:xfrm>
            <a:off x="8076998" y="3711972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Auto-fetches prices, computes 18% GST and  discounts.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585" y="4909741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</a:rPr>
              <a:t>VBA Core Engine:</a:t>
            </a:r>
            <a:endParaRPr lang="en-US" sz="2000" b="1" dirty="0"/>
          </a:p>
        </p:txBody>
      </p:sp>
      <p:sp>
        <p:nvSpPr>
          <p:cNvPr id="20" name="Text 18"/>
          <p:cNvSpPr/>
          <p:nvPr/>
        </p:nvSpPr>
        <p:spPr>
          <a:xfrm>
            <a:off x="609585" y="5295503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Executes multi-sheet updates and generates clean PDF/Print.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19489" y="4909741"/>
            <a:ext cx="33527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Ledger Sync:</a:t>
            </a:r>
            <a:endParaRPr lang="en-US" sz="2000" b="1" dirty="0"/>
          </a:p>
        </p:txBody>
      </p:sp>
      <p:sp>
        <p:nvSpPr>
          <p:cNvPr id="24" name="Text 22"/>
          <p:cNvSpPr/>
          <p:nvPr/>
        </p:nvSpPr>
        <p:spPr>
          <a:xfrm>
            <a:off x="4419489" y="5295503"/>
            <a:ext cx="33527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Automatically updates Opening, Purchase, and Closing Stock.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76998" y="4909741"/>
            <a:ext cx="350511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Master Sales Commit:</a:t>
            </a:r>
            <a:endParaRPr lang="en-US" sz="2000" b="1" dirty="0"/>
          </a:p>
        </p:txBody>
      </p:sp>
      <p:sp>
        <p:nvSpPr>
          <p:cNvPr id="28" name="Text 26"/>
          <p:cNvSpPr/>
          <p:nvPr/>
        </p:nvSpPr>
        <p:spPr>
          <a:xfrm>
            <a:off x="8076998" y="5295503"/>
            <a:ext cx="350511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Appends transaction row permanently to Sales Master.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9585" y="594558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Live Implemented Pipeline </a:t>
            </a:r>
            <a:r>
              <a:rPr lang="en-US" sz="12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100% verified transactional integrity  across all operational sheets.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7895" y="646608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941174" y="6466086"/>
            <a:ext cx="2505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6F9A8C0-6157-4F36-9BF0-090940881E33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7662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INVENTORY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025862"/>
            <a:ext cx="3911502" cy="1426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 Stock Ledger with Automated Reorder Level Triggers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609585" y="2769493"/>
            <a:ext cx="3911502" cy="3630811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5" name="Text 3"/>
          <p:cNvSpPr/>
          <p:nvPr/>
        </p:nvSpPr>
        <p:spPr>
          <a:xfrm>
            <a:off x="692128" y="2787908"/>
            <a:ext cx="3657509" cy="276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 Status Highlight: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863578" y="3067248"/>
            <a:ext cx="3403515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conditional formatting marks status as </a:t>
            </a:r>
            <a:r>
              <a:rPr lang="en-US" sz="14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“Reorder” (Red) </a:t>
            </a: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whenever Available Stock falls to or below safety thresholds (e.g. Epson Printer: 5 Pcs, Dell Monitor: 21 Pcs)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06528" y="5354836"/>
            <a:ext cx="1701757" cy="19050"/>
          </a:xfrm>
          <a:prstGeom prst="roundRect">
            <a:avLst>
              <a:gd name="adj" fmla="val 49999"/>
            </a:avLst>
          </a:prstGeom>
          <a:solidFill>
            <a:srgbClr val="B79CF5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5427861"/>
            <a:ext cx="340351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Closing Stock = Opening Stock + Purchase Stock −  Selling Stock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7895" y="652323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947425" y="6466086"/>
            <a:ext cx="24427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2C22EC3-BE24-400E-A4AC-25CB7A96989B}"/>
              </a:ext>
            </a:extLst>
          </p:cNvPr>
          <p:cNvSpPr/>
          <p:nvPr/>
        </p:nvSpPr>
        <p:spPr>
          <a:xfrm>
            <a:off x="609585" y="4149457"/>
            <a:ext cx="3657509" cy="276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Zero Mismatch:</a:t>
            </a:r>
            <a:endParaRPr lang="en-US" b="1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EB866AB-3371-4CC0-8895-478973C06F3D}"/>
              </a:ext>
            </a:extLst>
          </p:cNvPr>
          <p:cNvSpPr/>
          <p:nvPr/>
        </p:nvSpPr>
        <p:spPr>
          <a:xfrm>
            <a:off x="937594" y="4428182"/>
            <a:ext cx="3403515" cy="50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Stock cuts are triggered instantly upon invoice generation.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0C68538-8D2C-49EC-8499-A111D388121E}"/>
              </a:ext>
            </a:extLst>
          </p:cNvPr>
          <p:cNvSpPr/>
          <p:nvPr/>
        </p:nvSpPr>
        <p:spPr>
          <a:xfrm>
            <a:off x="649822" y="5066035"/>
            <a:ext cx="3657509" cy="22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Ledger Formula: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0D76BC-2A54-489E-B577-705917CA12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36" b="7920"/>
          <a:stretch/>
        </p:blipFill>
        <p:spPr>
          <a:xfrm>
            <a:off x="4636967" y="171480"/>
            <a:ext cx="7554727" cy="3183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07F63C-9EA8-422B-845E-3C1C3D96CB1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582" b="9238"/>
          <a:stretch/>
        </p:blipFill>
        <p:spPr>
          <a:xfrm>
            <a:off x="4638675" y="3428999"/>
            <a:ext cx="7543800" cy="33718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6412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BILLING AUTOMATION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89511"/>
            <a:ext cx="4267093" cy="1644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1-Click Tax Invoice Generation with Dynamic Currency Words</a:t>
            </a:r>
            <a:endParaRPr lang="en-US" sz="3600" b="1" dirty="0"/>
          </a:p>
        </p:txBody>
      </p:sp>
      <p:sp>
        <p:nvSpPr>
          <p:cNvPr id="4" name="Shape 2"/>
          <p:cNvSpPr/>
          <p:nvPr/>
        </p:nvSpPr>
        <p:spPr>
          <a:xfrm>
            <a:off x="295260" y="2566491"/>
            <a:ext cx="4267093" cy="3503414"/>
          </a:xfrm>
          <a:prstGeom prst="roundRect">
            <a:avLst>
              <a:gd name="adj" fmla="val 326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9253" y="2563316"/>
            <a:ext cx="399405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CAPTURE: </a:t>
            </a:r>
            <a:r>
              <a:rPr lang="en-US" sz="14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Auto-fetches</a:t>
            </a:r>
            <a:endParaRPr lang="en-US" sz="1400" b="1" dirty="0"/>
          </a:p>
        </p:txBody>
      </p:sp>
      <p:sp>
        <p:nvSpPr>
          <p:cNvPr id="6" name="Text 4"/>
          <p:cNvSpPr/>
          <p:nvPr/>
        </p:nvSpPr>
        <p:spPr>
          <a:xfrm>
            <a:off x="549253" y="2807098"/>
            <a:ext cx="3721007" cy="402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(Sahil / CUST0301) and product rates dynamically.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9253" y="3323828"/>
            <a:ext cx="399405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CALCULATE: </a:t>
            </a:r>
            <a:endParaRPr lang="en-US" sz="1400" b="1" dirty="0"/>
          </a:p>
        </p:txBody>
      </p:sp>
      <p:sp>
        <p:nvSpPr>
          <p:cNvPr id="8" name="Text 6"/>
          <p:cNvSpPr/>
          <p:nvPr/>
        </p:nvSpPr>
        <p:spPr>
          <a:xfrm>
            <a:off x="549253" y="3596184"/>
            <a:ext cx="372100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Computes line items, discounts (2%), and 18% GST automatically (Grand Total: ₹11,12,803.72).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9253" y="4112914"/>
            <a:ext cx="3994050" cy="198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VBA NUMBER-TO-WORDS:</a:t>
            </a:r>
            <a:endParaRPr lang="en-US" sz="1400" b="1" dirty="0"/>
          </a:p>
        </p:txBody>
      </p:sp>
      <p:sp>
        <p:nvSpPr>
          <p:cNvPr id="10" name="Text 8"/>
          <p:cNvSpPr/>
          <p:nvPr/>
        </p:nvSpPr>
        <p:spPr>
          <a:xfrm>
            <a:off x="552659" y="4404319"/>
            <a:ext cx="3788450" cy="828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Built-in custom VBA translates payout into formal words: “Rupees Eleven Lakh Twelve Thousand Eight Hundred Three and Seventy-two Paise Only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77895" y="646608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D9DCC93-A53A-4E5D-8C0E-10B38D952910}"/>
              </a:ext>
            </a:extLst>
          </p:cNvPr>
          <p:cNvSpPr/>
          <p:nvPr/>
        </p:nvSpPr>
        <p:spPr>
          <a:xfrm>
            <a:off x="549253" y="5231160"/>
            <a:ext cx="399405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B79CF5"/>
                </a:solidFill>
                <a:latin typeface="Bitter" pitchFamily="34" charset="0"/>
              </a:rPr>
              <a:t>1-CLICK ACTION: </a:t>
            </a:r>
            <a:endParaRPr lang="en-US" sz="1400" b="1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5525159-551B-49C7-95B0-EE7364A93136}"/>
              </a:ext>
            </a:extLst>
          </p:cNvPr>
          <p:cNvSpPr/>
          <p:nvPr/>
        </p:nvSpPr>
        <p:spPr>
          <a:xfrm>
            <a:off x="549252" y="5495255"/>
            <a:ext cx="3721007" cy="567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Dedicated “Save” and “Print” macro buttons for  instant execution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B5CFAE-2126-485D-AA29-B8F7683C9A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28" t="13333"/>
          <a:stretch/>
        </p:blipFill>
        <p:spPr>
          <a:xfrm>
            <a:off x="4797296" y="36712"/>
            <a:ext cx="7318504" cy="6557168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95F69E-9326-4492-AA9C-3F485BF4F494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26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VBA CONTROL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490180"/>
            <a:ext cx="11477640" cy="45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How VBA Macros Bridge User Actions with Protected Ledger Updates</a:t>
            </a:r>
            <a:endParaRPr lang="en-US" sz="3200" b="1" dirty="0"/>
          </a:p>
        </p:txBody>
      </p:sp>
      <p:sp>
        <p:nvSpPr>
          <p:cNvPr id="4" name="Text 2"/>
          <p:cNvSpPr/>
          <p:nvPr/>
        </p:nvSpPr>
        <p:spPr>
          <a:xfrm>
            <a:off x="609585" y="938411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macro is the bridge between an intentional user action and a visible, reviewable outcome.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0541" y="1342825"/>
            <a:ext cx="2263458" cy="1545336"/>
          </a:xfrm>
          <a:prstGeom prst="rect">
            <a:avLst/>
          </a:prstGeom>
          <a:solidFill>
            <a:srgbClr val="F2EDFB"/>
          </a:solidFill>
          <a:ln/>
        </p:spPr>
      </p:sp>
      <p:sp>
        <p:nvSpPr>
          <p:cNvPr id="7" name="Text 4"/>
          <p:cNvSpPr/>
          <p:nvPr/>
        </p:nvSpPr>
        <p:spPr>
          <a:xfrm>
            <a:off x="177895" y="1657729"/>
            <a:ext cx="2121797" cy="28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1400" b="1" dirty="0">
                <a:solidFill>
                  <a:srgbClr val="000000"/>
                </a:solidFill>
                <a:ea typeface="Jost" pitchFamily="34" charset="-122"/>
              </a:rPr>
              <a:t>Event Trigger (Save Button)</a:t>
            </a:r>
          </a:p>
          <a:p>
            <a:pPr>
              <a:lnSpc>
                <a:spcPct val="92000"/>
              </a:lnSpc>
            </a:pPr>
            <a:endParaRPr lang="en-US" sz="1400" b="1" dirty="0">
              <a:solidFill>
                <a:srgbClr val="000000"/>
              </a:solidFill>
              <a:ea typeface="Jost" pitchFamily="34" charset="-122"/>
            </a:endParaRPr>
          </a:p>
          <a:p>
            <a:pPr>
              <a:lnSpc>
                <a:spcPct val="92000"/>
              </a:lnSpc>
            </a:pPr>
            <a:endParaRPr lang="en-US" sz="1400" b="1" dirty="0">
              <a:solidFill>
                <a:srgbClr val="000000"/>
              </a:solidFill>
              <a:ea typeface="Jost" pitchFamily="34" charset="-122"/>
            </a:endParaRPr>
          </a:p>
          <a:p>
            <a:pPr>
              <a:lnSpc>
                <a:spcPct val="92000"/>
              </a:lnSpc>
            </a:pPr>
            <a:endParaRPr lang="en-US" sz="1400" b="1" dirty="0">
              <a:solidFill>
                <a:srgbClr val="000000"/>
              </a:solidFill>
              <a:ea typeface="Jost" pitchFamily="34" charset="-122"/>
            </a:endParaRPr>
          </a:p>
          <a:p>
            <a:pPr>
              <a:lnSpc>
                <a:spcPct val="92000"/>
              </a:lnSpc>
            </a:pPr>
            <a:endParaRPr lang="en-US" sz="1400" b="1" dirty="0">
              <a:solidFill>
                <a:srgbClr val="000000"/>
              </a:solidFill>
              <a:ea typeface="Jost" pitchFamily="34" charset="-122"/>
            </a:endParaRPr>
          </a:p>
          <a:p>
            <a:pPr>
              <a:lnSpc>
                <a:spcPct val="92000"/>
              </a:lnSpc>
            </a:pPr>
            <a:endParaRPr lang="en-US" sz="1400" b="1" dirty="0">
              <a:solidFill>
                <a:srgbClr val="000000"/>
              </a:solidFill>
              <a:ea typeface="Jost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7327" y="1849576"/>
            <a:ext cx="2221507" cy="9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 clicks the “Save“ macro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button. VBA initializes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execution and sets Application.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 err="1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ScreenUpdating</a:t>
            </a: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=False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for instant processing.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18181" y="1323777"/>
            <a:ext cx="2414861" cy="1564384"/>
          </a:xfrm>
          <a:prstGeom prst="rect">
            <a:avLst/>
          </a:prstGeom>
          <a:solidFill>
            <a:srgbClr val="F2EDFB"/>
          </a:solidFill>
          <a:ln/>
        </p:spPr>
      </p:sp>
      <p:sp>
        <p:nvSpPr>
          <p:cNvPr id="11" name="Text 7"/>
          <p:cNvSpPr/>
          <p:nvPr/>
        </p:nvSpPr>
        <p:spPr>
          <a:xfrm>
            <a:off x="2488340" y="1678872"/>
            <a:ext cx="180022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a typeface="Jost" pitchFamily="34" charset="-122"/>
              </a:rPr>
              <a:t>Pre-Execution Validation</a:t>
            </a:r>
            <a:endParaRPr lang="en-US" sz="1400" b="1" dirty="0"/>
          </a:p>
        </p:txBody>
      </p:sp>
      <p:sp>
        <p:nvSpPr>
          <p:cNvPr id="12" name="Text 8"/>
          <p:cNvSpPr/>
          <p:nvPr/>
        </p:nvSpPr>
        <p:spPr>
          <a:xfrm>
            <a:off x="2441750" y="1902681"/>
            <a:ext cx="2361147" cy="103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Bitter" pitchFamily="34" charset="0"/>
              </a:rPr>
              <a:t>Macro checks live stock available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</a:rPr>
              <a:t>quantity. If quantity exceeds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</a:rPr>
              <a:t>stock, execution halts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</a:rPr>
              <a:t>immediately with an error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</a:rPr>
              <a:t>prompt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1778" y="4721340"/>
            <a:ext cx="2248293" cy="1544464"/>
          </a:xfrm>
          <a:prstGeom prst="rect">
            <a:avLst/>
          </a:prstGeom>
          <a:solidFill>
            <a:srgbClr val="F2EDFB"/>
          </a:solidFill>
          <a:ln/>
        </p:spPr>
      </p:sp>
      <p:sp>
        <p:nvSpPr>
          <p:cNvPr id="15" name="Text 10"/>
          <p:cNvSpPr/>
          <p:nvPr/>
        </p:nvSpPr>
        <p:spPr>
          <a:xfrm>
            <a:off x="124150" y="5079477"/>
            <a:ext cx="214539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Jost" pitchFamily="34" charset="0"/>
                <a:ea typeface="Jost" pitchFamily="34" charset="-122"/>
              </a:rPr>
              <a:t>Auto-Reset &amp; Success State</a:t>
            </a:r>
            <a:endParaRPr lang="en-US" sz="1400" b="1" dirty="0"/>
          </a:p>
        </p:txBody>
      </p:sp>
      <p:sp>
        <p:nvSpPr>
          <p:cNvPr id="16" name="Text 11"/>
          <p:cNvSpPr/>
          <p:nvPr/>
        </p:nvSpPr>
        <p:spPr>
          <a:xfrm>
            <a:off x="110541" y="5344721"/>
            <a:ext cx="2180387" cy="921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Clears input fields, restores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screen updating and prepares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workbook instantly for the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next customer entry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10541" y="3046947"/>
            <a:ext cx="2248293" cy="1544464"/>
          </a:xfrm>
          <a:prstGeom prst="rect">
            <a:avLst/>
          </a:prstGeom>
          <a:solidFill>
            <a:srgbClr val="F2EDFB"/>
          </a:solidFill>
          <a:ln/>
        </p:spPr>
      </p:sp>
      <p:sp>
        <p:nvSpPr>
          <p:cNvPr id="19" name="Text 13"/>
          <p:cNvSpPr/>
          <p:nvPr/>
        </p:nvSpPr>
        <p:spPr>
          <a:xfrm>
            <a:off x="129371" y="3451759"/>
            <a:ext cx="2140177" cy="27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a typeface="Jost" pitchFamily="34" charset="-122"/>
              </a:rPr>
              <a:t>Invoice Engine</a:t>
            </a:r>
            <a:endParaRPr lang="en-US" sz="1400" b="1" dirty="0"/>
          </a:p>
        </p:txBody>
      </p:sp>
      <p:sp>
        <p:nvSpPr>
          <p:cNvPr id="20" name="Text 14"/>
          <p:cNvSpPr/>
          <p:nvPr/>
        </p:nvSpPr>
        <p:spPr>
          <a:xfrm>
            <a:off x="140480" y="3692040"/>
            <a:ext cx="2411697" cy="87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Generates sequential invoice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 (INV-15001), computes tax/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discounts, and converts the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grand total into formal Indian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currency words.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2426769" y="3046947"/>
            <a:ext cx="2414861" cy="1554480"/>
          </a:xfrm>
          <a:prstGeom prst="rect">
            <a:avLst/>
          </a:prstGeom>
          <a:solidFill>
            <a:srgbClr val="F2EDFB"/>
          </a:solidFill>
          <a:ln/>
        </p:spPr>
      </p:sp>
      <p:sp>
        <p:nvSpPr>
          <p:cNvPr id="23" name="Text 16"/>
          <p:cNvSpPr/>
          <p:nvPr/>
        </p:nvSpPr>
        <p:spPr>
          <a:xfrm>
            <a:off x="2516701" y="3447575"/>
            <a:ext cx="1939132" cy="280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ea typeface="Jost" pitchFamily="34" charset="-122"/>
                <a:cs typeface="Jost" pitchFamily="34" charset="-120"/>
              </a:rPr>
              <a:t>Multi-Sheet Database</a:t>
            </a:r>
            <a:endParaRPr lang="en-US" sz="1600" b="1" dirty="0"/>
          </a:p>
        </p:txBody>
      </p:sp>
      <p:sp>
        <p:nvSpPr>
          <p:cNvPr id="24" name="Text 17"/>
          <p:cNvSpPr/>
          <p:nvPr/>
        </p:nvSpPr>
        <p:spPr>
          <a:xfrm>
            <a:off x="2444048" y="3691757"/>
            <a:ext cx="2358849" cy="87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Simultaneously deducts Qty from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Stock Register and appends a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permanent transaction row into </a:t>
            </a:r>
            <a:b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2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Sales Master database.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77895" y="646608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951393" y="6466086"/>
            <a:ext cx="240302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71C703-3FF7-4FE2-841B-33AAE86B2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812" y="1304726"/>
            <a:ext cx="7261701" cy="5580139"/>
          </a:xfrm>
          <a:prstGeom prst="rect">
            <a:avLst/>
          </a:prstGeom>
        </p:spPr>
      </p:pic>
      <p:pic>
        <p:nvPicPr>
          <p:cNvPr id="30" name="Graphic 29" descr="Cursor">
            <a:extLst>
              <a:ext uri="{FF2B5EF4-FFF2-40B4-BE49-F238E27FC236}">
                <a16:creationId xmlns:a16="http://schemas.microsoft.com/office/drawing/2014/main" id="{9D0DBBB6-A873-4C61-A683-C48E9646B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373" y="1353887"/>
            <a:ext cx="365760" cy="365760"/>
          </a:xfrm>
          <a:prstGeom prst="rect">
            <a:avLst/>
          </a:prstGeom>
        </p:spPr>
      </p:pic>
      <p:pic>
        <p:nvPicPr>
          <p:cNvPr id="35" name="Graphic 34" descr="Document">
            <a:extLst>
              <a:ext uri="{FF2B5EF4-FFF2-40B4-BE49-F238E27FC236}">
                <a16:creationId xmlns:a16="http://schemas.microsoft.com/office/drawing/2014/main" id="{143D8801-92F0-4CEB-BAB2-AF8E6A66CE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250" y="3075111"/>
            <a:ext cx="365760" cy="365760"/>
          </a:xfrm>
          <a:prstGeom prst="rect">
            <a:avLst/>
          </a:prstGeom>
        </p:spPr>
      </p:pic>
      <p:pic>
        <p:nvPicPr>
          <p:cNvPr id="37" name="Graphic 36" descr="Database">
            <a:extLst>
              <a:ext uri="{FF2B5EF4-FFF2-40B4-BE49-F238E27FC236}">
                <a16:creationId xmlns:a16="http://schemas.microsoft.com/office/drawing/2014/main" id="{66F2DB00-594E-421B-9549-10AC5550E9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46048" y="3058391"/>
            <a:ext cx="365760" cy="365760"/>
          </a:xfrm>
          <a:prstGeom prst="rect">
            <a:avLst/>
          </a:prstGeom>
        </p:spPr>
      </p:pic>
      <p:pic>
        <p:nvPicPr>
          <p:cNvPr id="41" name="Graphic 40" descr="Repeat">
            <a:extLst>
              <a:ext uri="{FF2B5EF4-FFF2-40B4-BE49-F238E27FC236}">
                <a16:creationId xmlns:a16="http://schemas.microsoft.com/office/drawing/2014/main" id="{357AC637-2207-4F57-ABC0-477B17A97D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782" y="4738246"/>
            <a:ext cx="365760" cy="365760"/>
          </a:xfrm>
          <a:prstGeom prst="rect">
            <a:avLst/>
          </a:prstGeom>
        </p:spPr>
      </p:pic>
      <p:pic>
        <p:nvPicPr>
          <p:cNvPr id="49" name="Graphic 48" descr="Filter">
            <a:extLst>
              <a:ext uri="{FF2B5EF4-FFF2-40B4-BE49-F238E27FC236}">
                <a16:creationId xmlns:a16="http://schemas.microsoft.com/office/drawing/2014/main" id="{6F6CC092-11E2-4871-825A-92735253FC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47699" y="1333045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2879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OPERATIONAL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304072"/>
            <a:ext cx="5333867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Real-Time Inventory tracking Triggers Automated Reorder Alerts &amp; Vendor Fetch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609585" y="2781002"/>
            <a:ext cx="2514537" cy="1567061"/>
          </a:xfrm>
          <a:prstGeom prst="rect">
            <a:avLst/>
          </a:prstGeom>
          <a:solidFill>
            <a:srgbClr val="4A367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2908002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6582" y="3427614"/>
            <a:ext cx="226054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Total Sales</a:t>
            </a:r>
            <a:endParaRPr lang="en-US" sz="2000" b="1" dirty="0"/>
          </a:p>
        </p:txBody>
      </p:sp>
      <p:sp>
        <p:nvSpPr>
          <p:cNvPr id="8" name="Text 5"/>
          <p:cNvSpPr/>
          <p:nvPr/>
        </p:nvSpPr>
        <p:spPr>
          <a:xfrm>
            <a:off x="706438" y="3793281"/>
            <a:ext cx="2387540" cy="262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5,000+ Transactions Logged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28914" y="2781002"/>
            <a:ext cx="2514537" cy="1567061"/>
          </a:xfrm>
          <a:prstGeom prst="rect">
            <a:avLst/>
          </a:prstGeom>
          <a:solidFill>
            <a:srgbClr val="4A367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911" y="2908002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5911" y="3357278"/>
            <a:ext cx="226054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Tracked SKUs</a:t>
            </a:r>
            <a:endParaRPr lang="en-US" sz="2000" b="1" dirty="0"/>
          </a:p>
        </p:txBody>
      </p:sp>
      <p:sp>
        <p:nvSpPr>
          <p:cNvPr id="13" name="Text 9"/>
          <p:cNvSpPr/>
          <p:nvPr/>
        </p:nvSpPr>
        <p:spPr>
          <a:xfrm>
            <a:off x="3515719" y="3636678"/>
            <a:ext cx="2387540" cy="630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15+ Active IT Hardware</a:t>
            </a:r>
            <a:b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Products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9585" y="4598094"/>
            <a:ext cx="2514537" cy="1567061"/>
          </a:xfrm>
          <a:prstGeom prst="rect">
            <a:avLst/>
          </a:prstGeom>
          <a:solidFill>
            <a:srgbClr val="4A367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582" y="4725094"/>
            <a:ext cx="355591" cy="355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582" y="5164317"/>
            <a:ext cx="226054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Stock Accuracy</a:t>
            </a:r>
            <a:endParaRPr lang="en-US" sz="2000" b="1" dirty="0"/>
          </a:p>
        </p:txBody>
      </p:sp>
      <p:sp>
        <p:nvSpPr>
          <p:cNvPr id="18" name="Text 13"/>
          <p:cNvSpPr/>
          <p:nvPr/>
        </p:nvSpPr>
        <p:spPr>
          <a:xfrm>
            <a:off x="696390" y="5465762"/>
            <a:ext cx="2387540" cy="572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100% Real-Time</a:t>
            </a:r>
            <a:b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Mathematical Balance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428915" y="4598094"/>
            <a:ext cx="2514537" cy="1567061"/>
          </a:xfrm>
          <a:prstGeom prst="rect">
            <a:avLst/>
          </a:prstGeom>
          <a:solidFill>
            <a:srgbClr val="4A367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5912" y="4725094"/>
            <a:ext cx="355591" cy="355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55912" y="5164322"/>
            <a:ext cx="226054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Active Reorder Alert</a:t>
            </a:r>
            <a:endParaRPr lang="en-US" sz="2000" b="1" dirty="0"/>
          </a:p>
        </p:txBody>
      </p:sp>
      <p:sp>
        <p:nvSpPr>
          <p:cNvPr id="23" name="Text 17"/>
          <p:cNvSpPr/>
          <p:nvPr/>
        </p:nvSpPr>
        <p:spPr>
          <a:xfrm>
            <a:off x="3555912" y="5465762"/>
            <a:ext cx="2387540" cy="572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Triggered for Dell Monitor</a:t>
            </a:r>
            <a:b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(21 Pcs remaining)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320634" y="5540474"/>
            <a:ext cx="53338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2EDFB"/>
                </a:solidFill>
                <a:highlight>
                  <a:srgbClr val="800080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“Live reorder alerts auto-fetch supplier details (SUP028 Shree Suppliers) to prevent stockouts.”</a:t>
            </a:r>
            <a:endParaRPr lang="en-US" sz="1600" b="1" dirty="0">
              <a:highlight>
                <a:srgbClr val="800080"/>
              </a:highlight>
            </a:endParaRPr>
          </a:p>
        </p:txBody>
      </p:sp>
      <p:sp>
        <p:nvSpPr>
          <p:cNvPr id="28" name="Text 22"/>
          <p:cNvSpPr/>
          <p:nvPr/>
        </p:nvSpPr>
        <p:spPr>
          <a:xfrm>
            <a:off x="177895" y="646608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710215-FE9B-4F63-AA40-777B93C9DB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219" r="4549"/>
          <a:stretch/>
        </p:blipFill>
        <p:spPr>
          <a:xfrm>
            <a:off x="6041183" y="66974"/>
            <a:ext cx="6109206" cy="5305125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E4271B-AA71-47C0-B66E-E910CCF70DCD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647" y="312628"/>
            <a:ext cx="11415328" cy="52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</a:rPr>
              <a:t>Active Safeguards Protecting Ledger and Calculation Quality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7201956" y="1026871"/>
            <a:ext cx="2377440" cy="2651760"/>
          </a:xfrm>
          <a:prstGeom prst="rect">
            <a:avLst/>
          </a:prstGeom>
          <a:solidFill>
            <a:srgbClr val="F2EDFB"/>
          </a:solidFill>
          <a:ln w="19050">
            <a:solidFill>
              <a:srgbClr val="30294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473" y="1166732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65473" y="1701720"/>
            <a:ext cx="231392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Jost" pitchFamily="34" charset="0"/>
                <a:ea typeface="Jost" pitchFamily="34" charset="-122"/>
              </a:rPr>
              <a:t>Over-Order Blocker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7265473" y="2087482"/>
            <a:ext cx="2350780" cy="103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Blocks order processing if entered Qty exceeds Available Stock with an instant retry dialog.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65473" y="3296546"/>
            <a:ext cx="2018853" cy="270173"/>
          </a:xfrm>
          <a:prstGeom prst="roundRect">
            <a:avLst>
              <a:gd name="adj" fmla="val 4231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41986" y="3363650"/>
            <a:ext cx="2018853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ACTIVE SYSTEM CONTROL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722473" y="1024054"/>
            <a:ext cx="2377440" cy="2651760"/>
          </a:xfrm>
          <a:prstGeom prst="rect">
            <a:avLst/>
          </a:prstGeom>
          <a:solidFill>
            <a:srgbClr val="F2EDFB"/>
          </a:solidFill>
          <a:ln w="19050">
            <a:solidFill>
              <a:srgbClr val="30294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519" y="1176776"/>
            <a:ext cx="355591" cy="355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68520" y="1711764"/>
            <a:ext cx="22690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Input Validation</a:t>
            </a:r>
            <a:endParaRPr lang="en-US" b="1" dirty="0"/>
          </a:p>
        </p:txBody>
      </p:sp>
      <p:sp>
        <p:nvSpPr>
          <p:cNvPr id="13" name="Text 9"/>
          <p:cNvSpPr/>
          <p:nvPr/>
        </p:nvSpPr>
        <p:spPr>
          <a:xfrm>
            <a:off x="9868519" y="2097526"/>
            <a:ext cx="2253144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Restricts numeric fields (Rates, Tax %, Quantities) against invalid text entries.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868519" y="3296555"/>
            <a:ext cx="2018853" cy="270173"/>
          </a:xfrm>
          <a:prstGeom prst="roundRect">
            <a:avLst>
              <a:gd name="adj" fmla="val 4231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975177" y="3353603"/>
            <a:ext cx="196579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ACTIVE SYSTEM CONTROL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209867" y="3878643"/>
            <a:ext cx="2377440" cy="2651760"/>
          </a:xfrm>
          <a:prstGeom prst="rect">
            <a:avLst/>
          </a:prstGeom>
          <a:solidFill>
            <a:srgbClr val="F2EDFB"/>
          </a:solidFill>
          <a:ln w="19050">
            <a:solidFill>
              <a:srgbClr val="30294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913" y="3964359"/>
            <a:ext cx="355591" cy="355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55913" y="4499347"/>
            <a:ext cx="223139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Jost" pitchFamily="34" charset="0"/>
                <a:ea typeface="Jost" pitchFamily="34" charset="-122"/>
              </a:rPr>
              <a:t>ID &amp; Master Integrity</a:t>
            </a:r>
            <a:endParaRPr lang="en-US" b="1" dirty="0"/>
          </a:p>
        </p:txBody>
      </p:sp>
      <p:sp>
        <p:nvSpPr>
          <p:cNvPr id="19" name="Text 14"/>
          <p:cNvSpPr/>
          <p:nvPr/>
        </p:nvSpPr>
        <p:spPr>
          <a:xfrm>
            <a:off x="7355913" y="4885109"/>
            <a:ext cx="2231394" cy="112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Dynamic lookup validates Customer ID and Product Code before line-item calculation.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355913" y="6144424"/>
            <a:ext cx="2018853" cy="270173"/>
          </a:xfrm>
          <a:prstGeom prst="roundRect">
            <a:avLst>
              <a:gd name="adj" fmla="val 4231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62570" y="6231617"/>
            <a:ext cx="241512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ACTIVE SYSTEM CONTROL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732533" y="3873912"/>
            <a:ext cx="2377440" cy="2651760"/>
          </a:xfrm>
          <a:prstGeom prst="rect">
            <a:avLst/>
          </a:prstGeom>
          <a:solidFill>
            <a:srgbClr val="F2EDFB"/>
          </a:solidFill>
          <a:ln w="19050">
            <a:solidFill>
              <a:srgbClr val="302944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8579" y="3853816"/>
            <a:ext cx="355591" cy="355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78580" y="4388804"/>
            <a:ext cx="222133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Formula Protection</a:t>
            </a:r>
            <a:endParaRPr lang="en-US" b="1" dirty="0"/>
          </a:p>
        </p:txBody>
      </p:sp>
      <p:sp>
        <p:nvSpPr>
          <p:cNvPr id="25" name="Text 19"/>
          <p:cNvSpPr/>
          <p:nvPr/>
        </p:nvSpPr>
        <p:spPr>
          <a:xfrm>
            <a:off x="9878580" y="4774566"/>
            <a:ext cx="2231394" cy="1078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Critical calculation cells locked against accidental manual deletion or formula disruption.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878579" y="6094166"/>
            <a:ext cx="2018853" cy="270173"/>
          </a:xfrm>
          <a:prstGeom prst="roundRect">
            <a:avLst>
              <a:gd name="adj" fmla="val 4231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985237" y="6151214"/>
            <a:ext cx="241512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ACTIVE SYSTEM CONTROL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77895" y="6646950"/>
            <a:ext cx="4163214" cy="185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940975" y="6466086"/>
            <a:ext cx="25072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C5FDF267-46F7-4776-A71D-B92DF9A45BE4}"/>
              </a:ext>
            </a:extLst>
          </p:cNvPr>
          <p:cNvSpPr/>
          <p:nvPr/>
        </p:nvSpPr>
        <p:spPr>
          <a:xfrm>
            <a:off x="609585" y="5797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VALIDATION CONTROLS</a:t>
            </a:r>
            <a:endParaRPr lang="en-US" sz="11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110CDE3-3CE4-486E-B047-90DA86029C3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43" r="3474"/>
          <a:stretch/>
        </p:blipFill>
        <p:spPr>
          <a:xfrm>
            <a:off x="70336" y="1026871"/>
            <a:ext cx="7049911" cy="5482133"/>
          </a:xfrm>
          <a:prstGeom prst="rect">
            <a:avLst/>
          </a:prstGeom>
        </p:spPr>
      </p:pic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03BACA5-2476-4651-AAF0-723EC99CBB5D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1017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09 — LIVE DEMONSTRATION &amp; AUDIT TRAIL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77895" y="527154"/>
            <a:ext cx="11973625" cy="467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High-Volume Transaction Engine Supporting 5,000+ Historical Rows </a:t>
            </a:r>
            <a:endParaRPr lang="en-US" sz="3200" b="1" dirty="0"/>
          </a:p>
        </p:txBody>
      </p:sp>
      <p:sp>
        <p:nvSpPr>
          <p:cNvPr id="4" name="Text 2"/>
          <p:cNvSpPr/>
          <p:nvPr/>
        </p:nvSpPr>
        <p:spPr>
          <a:xfrm>
            <a:off x="187568" y="3896717"/>
            <a:ext cx="4538490" cy="246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chemeClr val="bg1"/>
                </a:solidFill>
                <a:highlight>
                  <a:srgbClr val="800080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Baseline State</a:t>
            </a:r>
            <a:r>
              <a:rPr lang="en-US" sz="1400" b="1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Sales Master loaded with 5,000 historical transactions up to INV-15000 (Total: ₹405,726,484)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chemeClr val="bg1"/>
                </a:solidFill>
                <a:highlight>
                  <a:srgbClr val="800080"/>
                </a:highlight>
                <a:latin typeface="Bitter" pitchFamily="34" charset="0"/>
                <a:ea typeface="Bitter" pitchFamily="34" charset="-122"/>
                <a:cs typeface="Bitter" pitchFamily="34" charset="-120"/>
              </a:rPr>
              <a:t>Invoice Trigger</a:t>
            </a:r>
            <a:r>
              <a:rPr lang="en-US" sz="1400" b="1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Clicked “Save” macro on invoice INV-15001 for Customer Sahil.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chemeClr val="bg1"/>
                </a:solidFill>
                <a:highlight>
                  <a:srgbClr val="800080"/>
                </a:highlight>
                <a:latin typeface="Bitter" pitchFamily="34" charset="0"/>
              </a:rPr>
              <a:t>Automated Commit</a:t>
            </a:r>
            <a:r>
              <a:rPr lang="en-US" sz="1400" b="1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VBA instantly appended 3 line items into rows 5003,5004,5005.</a:t>
            </a:r>
            <a:endParaRPr lang="en-US" sz="1400" b="1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chemeClr val="bg1"/>
                </a:solidFill>
                <a:highlight>
                  <a:srgbClr val="800080"/>
                </a:highlight>
                <a:latin typeface="Bitter" pitchFamily="34" charset="0"/>
              </a:rPr>
              <a:t>Instant Math Parity</a:t>
            </a:r>
            <a:r>
              <a:rPr lang="en-US" sz="1400" b="1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Grand Total automatically recalculated to ₹406,839,288 (+ ₹1,112,804)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chemeClr val="bg1"/>
                </a:solidFill>
                <a:highlight>
                  <a:srgbClr val="800080"/>
                </a:highlight>
                <a:latin typeface="Bitter" pitchFamily="34" charset="0"/>
              </a:rPr>
              <a:t>Audit Trail Integrity </a:t>
            </a:r>
            <a:r>
              <a:rPr lang="en-US" sz="1400" b="1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</a:t>
            </a: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Permanent row entry secured with zero duplicate invoice numbers. 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458864" y="1064443"/>
            <a:ext cx="4267192" cy="2465784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6" name="Text 4"/>
          <p:cNvSpPr/>
          <p:nvPr/>
        </p:nvSpPr>
        <p:spPr>
          <a:xfrm>
            <a:off x="662059" y="1368119"/>
            <a:ext cx="4063998" cy="216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VERIFIED SYSTEM CAPABILITIES</a:t>
            </a:r>
            <a:endParaRPr lang="en-US" sz="1050" b="1" dirty="0"/>
          </a:p>
        </p:txBody>
      </p:sp>
      <p:sp>
        <p:nvSpPr>
          <p:cNvPr id="7" name="Text 5"/>
          <p:cNvSpPr/>
          <p:nvPr/>
        </p:nvSpPr>
        <p:spPr>
          <a:xfrm>
            <a:off x="662059" y="1659525"/>
            <a:ext cx="3860803" cy="34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tter" pitchFamily="34" charset="0"/>
              </a:rPr>
              <a:t>Audit Status : </a:t>
            </a:r>
            <a:br>
              <a:rPr lang="en-US" sz="1400" b="1" dirty="0">
                <a:solidFill>
                  <a:srgbClr val="FFFFFF"/>
                </a:solidFill>
                <a:latin typeface="Bitter" pitchFamily="34" charset="0"/>
              </a:rPr>
            </a:br>
            <a:endParaRPr lang="en-US" sz="1400" b="1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18ABB896-3826-465E-9B67-B436E4BF3F36}"/>
              </a:ext>
            </a:extLst>
          </p:cNvPr>
          <p:cNvSpPr/>
          <p:nvPr/>
        </p:nvSpPr>
        <p:spPr>
          <a:xfrm>
            <a:off x="177895" y="6466086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F781CAE-DF29-42C1-B56E-97805A6C9591}"/>
              </a:ext>
            </a:extLst>
          </p:cNvPr>
          <p:cNvSpPr/>
          <p:nvPr/>
        </p:nvSpPr>
        <p:spPr>
          <a:xfrm>
            <a:off x="763656" y="2137016"/>
            <a:ext cx="3860803" cy="1403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Zero record duplication.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Instant invoice reprint by Bill No. 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</a:rPr>
              <a:t>₹0 recurring third-party software license.</a:t>
            </a:r>
            <a:br>
              <a:rPr lang="en-US" sz="1400" b="1" dirty="0">
                <a:solidFill>
                  <a:srgbClr val="FFFFFF"/>
                </a:solidFill>
                <a:latin typeface="Bitter" pitchFamily="34" charset="0"/>
              </a:rPr>
            </a:br>
            <a:endParaRPr lang="en-US" sz="1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031C7A-32E3-4F23-A773-4A7A75122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840" y="1042988"/>
            <a:ext cx="7386160" cy="28537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BACFAF-5E5F-4286-A26E-3EF2817F5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839" y="3944909"/>
            <a:ext cx="7386160" cy="29988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8188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 — PROJECT SUMMARY &amp; KEY LEARNINGS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77895" y="597490"/>
            <a:ext cx="11973625" cy="467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F2EDFB"/>
                </a:solidFill>
                <a:latin typeface="Jost" pitchFamily="34" charset="0"/>
                <a:ea typeface="Jost" pitchFamily="34" charset="-122"/>
              </a:rPr>
              <a:t>Project Overview, Key Features &amp; Learning Outcomes</a:t>
            </a:r>
            <a:endParaRPr lang="en-US" sz="3200" b="1" dirty="0"/>
          </a:p>
        </p:txBody>
      </p:sp>
      <p:sp>
        <p:nvSpPr>
          <p:cNvPr id="5" name="Shape 3"/>
          <p:cNvSpPr/>
          <p:nvPr/>
        </p:nvSpPr>
        <p:spPr>
          <a:xfrm>
            <a:off x="1276146" y="1285499"/>
            <a:ext cx="5138001" cy="2465784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6" name="Text 4"/>
          <p:cNvSpPr/>
          <p:nvPr/>
        </p:nvSpPr>
        <p:spPr>
          <a:xfrm>
            <a:off x="1636722" y="1398262"/>
            <a:ext cx="4063998" cy="22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OVERVIEW</a:t>
            </a:r>
            <a:endParaRPr lang="en-US" sz="1100" b="1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18ABB896-3826-465E-9B67-B436E4BF3F36}"/>
              </a:ext>
            </a:extLst>
          </p:cNvPr>
          <p:cNvSpPr/>
          <p:nvPr/>
        </p:nvSpPr>
        <p:spPr>
          <a:xfrm>
            <a:off x="177895" y="6546470"/>
            <a:ext cx="416321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FULLY AUTOMATED INVENTORY &amp; BILLING ERP SYSTEM</a:t>
            </a:r>
            <a:endParaRPr lang="en-US" sz="11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935F027-700F-465E-B203-503CBB5675FE}"/>
              </a:ext>
            </a:extLst>
          </p:cNvPr>
          <p:cNvSpPr/>
          <p:nvPr/>
        </p:nvSpPr>
        <p:spPr>
          <a:xfrm>
            <a:off x="6905498" y="3917076"/>
            <a:ext cx="5138001" cy="2465784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26F0392-B7EC-4735-B93A-1ECE5B73D71E}"/>
              </a:ext>
            </a:extLst>
          </p:cNvPr>
          <p:cNvSpPr/>
          <p:nvPr/>
        </p:nvSpPr>
        <p:spPr>
          <a:xfrm>
            <a:off x="1276146" y="3917077"/>
            <a:ext cx="5138002" cy="2465784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15B248E-3CC6-4EDF-A691-F9924D8A82E2}"/>
              </a:ext>
            </a:extLst>
          </p:cNvPr>
          <p:cNvSpPr/>
          <p:nvPr/>
        </p:nvSpPr>
        <p:spPr>
          <a:xfrm>
            <a:off x="7256022" y="4034283"/>
            <a:ext cx="4063998" cy="216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KEY LEARNING OUTCOMES</a:t>
            </a:r>
            <a:endParaRPr lang="en-US" sz="1100" b="1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76D1065F-E4D5-4DAC-A37B-4ABEC03521E6}"/>
              </a:ext>
            </a:extLst>
          </p:cNvPr>
          <p:cNvSpPr/>
          <p:nvPr/>
        </p:nvSpPr>
        <p:spPr>
          <a:xfrm>
            <a:off x="6905498" y="1258212"/>
            <a:ext cx="5138001" cy="2465784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583D125-404D-4D50-8994-CFE1FEE6CA71}"/>
              </a:ext>
            </a:extLst>
          </p:cNvPr>
          <p:cNvSpPr/>
          <p:nvPr/>
        </p:nvSpPr>
        <p:spPr>
          <a:xfrm>
            <a:off x="7256022" y="1338704"/>
            <a:ext cx="4063998" cy="216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KEY FUNCTIONALITIES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050" b="1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E0E409A-D341-430E-81C0-3B4E28D0F843}"/>
              </a:ext>
            </a:extLst>
          </p:cNvPr>
          <p:cNvSpPr/>
          <p:nvPr/>
        </p:nvSpPr>
        <p:spPr>
          <a:xfrm>
            <a:off x="1487116" y="4020267"/>
            <a:ext cx="4063998" cy="216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TECHNOLOGY STACK</a:t>
            </a:r>
            <a:endParaRPr lang="en-US" sz="1100" b="1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160E2F6B-EEFC-43F7-BB9F-327FF7B6364B}"/>
              </a:ext>
            </a:extLst>
          </p:cNvPr>
          <p:cNvSpPr/>
          <p:nvPr/>
        </p:nvSpPr>
        <p:spPr>
          <a:xfrm>
            <a:off x="6953460" y="1748109"/>
            <a:ext cx="5090039" cy="1975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Automated invoice generation with Save and Print buttons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Automatic stock updates after invoice generation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Low-stock alerts with supplier details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Sales register maintenance and transaction logging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Input validation and protection against over-ordering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Automated amount-to-words conversion 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96420C5-1CE9-4C80-BE8C-03DBB110F0BA}"/>
              </a:ext>
            </a:extLst>
          </p:cNvPr>
          <p:cNvSpPr/>
          <p:nvPr/>
        </p:nvSpPr>
        <p:spPr>
          <a:xfrm>
            <a:off x="1480428" y="1728389"/>
            <a:ext cx="4672525" cy="1188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7000"/>
              </a:lnSpc>
            </a:pPr>
            <a:r>
              <a:rPr lang="en-US" sz="1600" dirty="0">
                <a:solidFill>
                  <a:schemeClr val="bg1"/>
                </a:solidFill>
              </a:rPr>
              <a:t>An Excel VBA-based Inventory &amp; Billing ERP System designed to integrate billing , inventory management, stock validation, and  sales record maintenance</a:t>
            </a: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8C64F79B-3CE2-4486-849D-9B00EDD7C183}"/>
              </a:ext>
            </a:extLst>
          </p:cNvPr>
          <p:cNvSpPr/>
          <p:nvPr/>
        </p:nvSpPr>
        <p:spPr>
          <a:xfrm>
            <a:off x="1405618" y="4349377"/>
            <a:ext cx="4672525" cy="1147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7000"/>
              </a:lnSpc>
            </a:pPr>
            <a:r>
              <a:rPr lang="en-US" sz="1600" dirty="0">
                <a:solidFill>
                  <a:schemeClr val="bg1"/>
                </a:solidFill>
              </a:rPr>
              <a:t>Microsoft Excel | VBA Macros | Data Validation | Inventory Management | Business Process Automation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F781CAE-DF29-42C1-B56E-97805A6C9591}"/>
              </a:ext>
            </a:extLst>
          </p:cNvPr>
          <p:cNvSpPr/>
          <p:nvPr/>
        </p:nvSpPr>
        <p:spPr>
          <a:xfrm>
            <a:off x="7115350" y="4325974"/>
            <a:ext cx="4672525" cy="193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Excel VBA automation and macro development 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Multi-sheet data integration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Inventory calculations and validation controls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Invoice processing and sales reporting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F3ACBF0-80BF-4343-89ED-956F0876619A}"/>
              </a:ext>
            </a:extLst>
          </p:cNvPr>
          <p:cNvSpPr/>
          <p:nvPr/>
        </p:nvSpPr>
        <p:spPr>
          <a:xfrm>
            <a:off x="11115676" y="6595400"/>
            <a:ext cx="1035844" cy="182958"/>
          </a:xfrm>
          <a:prstGeom prst="roundRect">
            <a:avLst>
              <a:gd name="adj" fmla="val 46602"/>
            </a:avLst>
          </a:prstGeom>
          <a:solidFill>
            <a:srgbClr val="1708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/>
              <a:t>Pradeep Kumar </a:t>
            </a:r>
            <a:r>
              <a:rPr lang="en-US" sz="600" b="1" dirty="0" err="1"/>
              <a:t>Kurrey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014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1203</Words>
  <Application>Microsoft Office PowerPoint</Application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Bitter</vt:lpstr>
      <vt:lpstr>Arial</vt:lpstr>
      <vt:lpstr>Jost</vt:lpstr>
      <vt:lpstr>Calibri</vt:lpstr>
      <vt:lpstr>Bitter Bold</vt:lpstr>
      <vt:lpstr>Bitter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PRADIP</dc:creator>
  <cp:lastModifiedBy>PRADIP</cp:lastModifiedBy>
  <cp:revision>55</cp:revision>
  <dcterms:created xsi:type="dcterms:W3CDTF">2026-10-17T15:49:27Z</dcterms:created>
  <dcterms:modified xsi:type="dcterms:W3CDTF">2026-10-21T02:37:25Z</dcterms:modified>
</cp:coreProperties>
</file>